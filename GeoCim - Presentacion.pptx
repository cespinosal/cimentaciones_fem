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Segoe UI Semibold"/>
              </a:rPr>
              <a:t>INGENIERIA DE CIMENTACIONES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GeoCim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FB3C7"/>
                </a:solidFill>
                <a:latin typeface="Segoe UI"/>
              </a:rPr>
              <a:t>Cimentaciones FEM — Revision de cimentacion por FEM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FB3C7"/>
                </a:solidFill>
                <a:latin typeface="Segoe UI"/>
              </a:rPr>
              <a:t>Zapata / Losa General para torres autosoportadas — geometria, geotecnia, diseno estructural y analisis FEM en una sola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FB3C7"/>
                </a:solidFill>
                <a:latin typeface="Segoe UI"/>
              </a:rPr>
              <a:t>Presentacion para el equipo de ingenieria  ·  V2.1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5FA5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37943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22C"/>
                </a:solidFill>
                <a:latin typeface="Segoe UI"/>
              </a:rPr>
              <a:t>De donde viene la herramienta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32888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578608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5FA5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87752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22C"/>
                </a:solidFill>
                <a:latin typeface="Segoe UI"/>
              </a:rPr>
              <a:t>Que es y para que sirve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82696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5FA5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3756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22C"/>
                </a:solidFill>
                <a:latin typeface="Segoe UI"/>
              </a:rPr>
              <a:t>El flujo de trabajo, de punta a punta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32504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78224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5FA5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87368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22C"/>
                </a:solidFill>
                <a:latin typeface="Segoe UI"/>
              </a:rPr>
              <a:t>Diseno estructural y resumen de eficiencias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82312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5FA5"/>
                </a:solidFill>
                <a:latin typeface="Segoe U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37176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22C"/>
                </a:solidFill>
                <a:latin typeface="Segoe UI"/>
              </a:rPr>
              <a:t>Visualizacion 3D y Motor FEM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532120"/>
            <a:ext cx="530352" cy="530352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530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5FA5"/>
                </a:solidFill>
                <a:latin typeface="Segoe U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86984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222C"/>
                </a:solidFill>
                <a:latin typeface="Segoe UI"/>
              </a:rPr>
              <a:t>Memoria de calculo y proximos pasos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ORIGEN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De una hoja de calculo a una aplicacion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11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D4FF"/>
                </a:solidFill>
                <a:latin typeface="Segoe UI Semibold"/>
              </a:rPr>
              <a:t>V1.0 — V1.7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C"/>
                </a:solidFill>
                <a:latin typeface="Segoe UI"/>
              </a:rPr>
              <a:t>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632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3154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222C"/>
                </a:solidFill>
                <a:latin typeface="Segoe UI"/>
              </a:rPr>
              <a:t>Excel + VBA: geometria, AutoCAD, integrador de esfuerzos, reacciones — en uso real de produccion durante mas de un ano.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2359152"/>
            <a:ext cx="228600" cy="0"/>
          </a:xfrm>
          <a:prstGeom prst="line">
            <a:avLst/>
          </a:prstGeom>
          <a:ln w="25400">
            <a:solidFill>
              <a:srgbClr val="5B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10312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11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7627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D4FF"/>
                </a:solidFill>
                <a:latin typeface="Segoe UI Semibold"/>
              </a:rPr>
              <a:t>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974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C"/>
                </a:solidFill>
                <a:latin typeface="Segoe UI"/>
              </a:rPr>
              <a:t>Jul.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0632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218688"/>
            <a:ext cx="3154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222C"/>
                </a:solidFill>
                <a:latin typeface="Segoe UI"/>
              </a:rPr>
              <a:t>Se reconstruye como aplicacion web: geometria, reacciones (con importacion desde PDF), revision geotecnica y mallado FEM.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2359152"/>
            <a:ext cx="228600" cy="0"/>
          </a:xfrm>
          <a:prstGeom prst="line">
            <a:avLst/>
          </a:prstGeom>
          <a:ln w="25400">
            <a:solidFill>
              <a:srgbClr val="5B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2103120"/>
            <a:ext cx="3520440" cy="502920"/>
          </a:xfrm>
          <a:prstGeom prst="roundRect">
            <a:avLst>
              <a:gd name="adj" fmla="val 8000"/>
            </a:avLst>
          </a:prstGeom>
          <a:solidFill>
            <a:srgbClr val="11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17627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0D4FF"/>
                </a:solidFill>
                <a:latin typeface="Segoe UI Semibold"/>
              </a:rPr>
              <a:t>V2.1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974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C"/>
                </a:solidFill>
                <a:latin typeface="Segoe UI"/>
              </a:rPr>
              <a:t>Jul.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063240"/>
            <a:ext cx="3520440" cy="23317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218688"/>
            <a:ext cx="3154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A222C"/>
                </a:solidFill>
                <a:latin typeface="Segoe UI"/>
              </a:rPr>
              <a:t>Exportacion a STAAD.Pro, diseno estructural ACI 318-19 completo, resumen de eficiencias, vistas 3D y memoria de calculo en Word.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Segoe UI"/>
              </a:rPr>
              <a:t>Autoria: Ing. Juan Espinosa. Historial completo de revisiones documentado dentro de la propia app.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egoe UI Semibold"/>
              </a:rPr>
              <a:t>QUE 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Una app, todo el diseno de la cimentacion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Disena zapatas/losas de cimentacion</a:t>
            </a:r>
            <a:r>
              <a:rPr sz="1900">
                <a:solidFill>
                  <a:srgbClr val="9FB3C7"/>
                </a:solidFill>
                <a:latin typeface="Segoe UI"/>
              </a:rPr>
              <a:t> para torres Autosoportada 3P, 4P y M4, de la geometria al reporte final.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Aplica la normativa completa:</a:t>
            </a:r>
            <a:r>
              <a:rPr sz="1900">
                <a:solidFill>
                  <a:srgbClr val="9FB3C7"/>
                </a:solidFill>
                <a:latin typeface="Segoe UI"/>
              </a:rPr>
              <a:t> ACI 318-19 (diseno estructural de concreto) y ANSI/TIA-222-H (cargas y criterios de cimentacion de torres).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Reemplaza el ida y vuelta manual</a:t>
            </a:r>
            <a:r>
              <a:rPr sz="1900">
                <a:solidFill>
                  <a:srgbClr val="9FB3C7"/>
                </a:solidFill>
                <a:latin typeface="Segoe UI"/>
              </a:rPr>
              <a:t> entre Excel, AutoCAD y STAAD.Pro — hoy la geometria, la geotecnia, el diseno estructural y la exportacion viven en un solo lugar.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Un unico archivo HTML,</a:t>
            </a:r>
            <a:r>
              <a:rPr sz="1900">
                <a:solidFill>
                  <a:srgbClr val="9FB3C7"/>
                </a:solidFill>
                <a:latin typeface="Segoe UI"/>
              </a:rPr>
              <a:t> sin instalacion ni dependencias — autoguardado en el navegador.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El flujo de trabajo, de punta a punta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" y="22860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307" y="2414016"/>
            <a:ext cx="196596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185FA5"/>
                </a:solidFill>
                <a:latin typeface="Segoe UI Semibold"/>
              </a:rPr>
              <a:t>Zapata</a:t>
            </a:r>
          </a:p>
          <a:p>
            <a:pPr algn="ctr"/>
            <a:r>
              <a:rPr sz="1150">
                <a:solidFill>
                  <a:srgbClr val="1A222C"/>
                </a:solidFill>
                <a:latin typeface="Segoe UI"/>
              </a:rPr>
              <a:t>Geometria y</a:t>
            </a:r>
          </a:p>
          <a:p>
            <a:pPr algn="ctr"/>
            <a:r>
              <a:rPr sz="1150">
                <a:solidFill>
                  <a:srgbClr val="1A222C"/>
                </a:solidFill>
                <a:latin typeface="Segoe UI"/>
              </a:rPr>
              <a:t>propiedades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98267" y="2994660"/>
            <a:ext cx="274320" cy="0"/>
          </a:xfrm>
          <a:prstGeom prst="line">
            <a:avLst/>
          </a:prstGeom>
          <a:ln w="25400">
            <a:solidFill>
              <a:srgbClr val="5B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72587" y="22860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11D33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2587" y="2414016"/>
            <a:ext cx="196596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00D4FF"/>
                </a:solidFill>
                <a:latin typeface="Segoe UI Semibold"/>
              </a:rPr>
              <a:t>Reacciones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STAAD por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pata/combo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38547" y="2994660"/>
            <a:ext cx="274320" cy="0"/>
          </a:xfrm>
          <a:prstGeom prst="line">
            <a:avLst/>
          </a:prstGeom>
          <a:ln w="25400">
            <a:solidFill>
              <a:srgbClr val="5B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12867" y="22860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2867" y="2414016"/>
            <a:ext cx="196596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185FA5"/>
                </a:solidFill>
                <a:latin typeface="Segoe UI Semibold"/>
              </a:rPr>
              <a:t>Calculos</a:t>
            </a:r>
          </a:p>
          <a:p>
            <a:pPr algn="ctr"/>
            <a:r>
              <a:rPr sz="1150">
                <a:solidFill>
                  <a:srgbClr val="1A222C"/>
                </a:solidFill>
                <a:latin typeface="Segoe UI"/>
              </a:rPr>
              <a:t>Geotecnia +</a:t>
            </a:r>
          </a:p>
          <a:p>
            <a:pPr algn="ctr"/>
            <a:r>
              <a:rPr sz="1150">
                <a:solidFill>
                  <a:srgbClr val="1A222C"/>
                </a:solidFill>
                <a:latin typeface="Segoe UI"/>
              </a:rPr>
              <a:t>mallado FEM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8827" y="2994660"/>
            <a:ext cx="274320" cy="0"/>
          </a:xfrm>
          <a:prstGeom prst="line">
            <a:avLst/>
          </a:prstGeom>
          <a:ln w="25400">
            <a:solidFill>
              <a:srgbClr val="5B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53147" y="22860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111D33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3147" y="2414016"/>
            <a:ext cx="196596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00D4FF"/>
                </a:solidFill>
                <a:latin typeface="Segoe UI Semibold"/>
              </a:rPr>
              <a:t>Diseno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ACI 318-19</a:t>
            </a:r>
          </a:p>
          <a:p>
            <a:pPr algn="ctr"/>
            <a:r>
              <a:rPr sz="1150">
                <a:solidFill>
                  <a:srgbClr val="FFFFFF"/>
                </a:solidFill>
                <a:latin typeface="Segoe UI"/>
              </a:rPr>
              <a:t>por seccion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19107" y="2994660"/>
            <a:ext cx="274320" cy="0"/>
          </a:xfrm>
          <a:prstGeom prst="line">
            <a:avLst/>
          </a:prstGeom>
          <a:ln w="25400">
            <a:solidFill>
              <a:srgbClr val="5B6B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593427" y="2286000"/>
            <a:ext cx="196596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93427" y="2414016"/>
            <a:ext cx="196596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500">
                <a:solidFill>
                  <a:srgbClr val="185FA5"/>
                </a:solidFill>
                <a:latin typeface="Segoe UI Semibold"/>
              </a:rPr>
              <a:t>Exportar</a:t>
            </a:r>
          </a:p>
          <a:p>
            <a:pPr algn="ctr"/>
            <a:r>
              <a:rPr sz="1150">
                <a:solidFill>
                  <a:srgbClr val="1A222C"/>
                </a:solidFill>
                <a:latin typeface="Segoe UI"/>
              </a:rPr>
              <a:t>STAAD (.STD) +</a:t>
            </a:r>
          </a:p>
          <a:p>
            <a:pPr algn="ctr"/>
            <a:r>
              <a:rPr sz="1150">
                <a:solidFill>
                  <a:srgbClr val="1A222C"/>
                </a:solidFill>
                <a:latin typeface="Segoe UI"/>
              </a:rPr>
              <a:t>memoria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B6B7C"/>
                </a:solidFill>
                <a:latin typeface="Segoe UI"/>
              </a:rPr>
              <a:t>Cada pestana de la app sigue este mismo orden, de izquierda a derecha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4709160"/>
            <a:ext cx="8686800" cy="123444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60" y="486460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22C"/>
                </a:solidFill>
                <a:latin typeface="Segoe UI"/>
              </a:rPr>
              <a:t>Novedad: el Motor FEM se suma como una sexta pestana — analisis por elementos finitos propio, corriendo sobre la geometria real, sin salir de la app.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Definicion de la zapata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Vertices del poligono</a:t>
            </a:r>
            <a:r>
              <a:rPr sz="1900">
                <a:solidFill>
                  <a:srgbClr val="5B6B7C"/>
                </a:solidFill>
                <a:latin typeface="Segoe UI"/>
              </a:rPr>
              <a:t> de la zapata (con hueco opcional) — editables en tabla o importables.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Vista en planta</a:t>
            </a:r>
            <a:r>
              <a:rPr sz="1900">
                <a:solidFill>
                  <a:srgbClr val="5B6B7C"/>
                </a:solidFill>
                <a:latin typeface="Segoe UI"/>
              </a:rPr>
              <a:t> en SVG, con centroide, para verificar la geometria de un vistazo.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Propiedades de seccion</a:t>
            </a:r>
            <a:r>
              <a:rPr sz="1900">
                <a:solidFill>
                  <a:srgbClr val="5B6B7C"/>
                </a:solidFill>
                <a:latin typeface="Segoe UI"/>
              </a:rPr>
              <a:t> calculadas automaticamente: area, centroide, momentos de inercia, modulos resistentes — ya no se copian a mano desde otra herramienta.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egoe UI Semibold"/>
              </a:rPr>
              <a:t>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Reacciones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Tabla de reacciones</a:t>
            </a:r>
            <a:r>
              <a:rPr sz="1900">
                <a:solidFill>
                  <a:srgbClr val="9FB3C7"/>
                </a:solidFill>
                <a:latin typeface="Segoe UI"/>
              </a:rPr>
              <a:t> por pata y por combinacion de carga (servicio, geotecnico 0.9D, estructural 1.2D) tal como las entrega STAAD.Pro.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Importacion automatica desde PDF:</a:t>
            </a:r>
            <a:r>
              <a:rPr sz="1900">
                <a:solidFill>
                  <a:srgbClr val="9FB3C7"/>
                </a:solidFill>
                <a:latin typeface="Segoe UI"/>
              </a:rPr>
              <a:t> se sube el reporte de STAAD y la app ubica cada valor por su posicion en la pagina — ya no se transcribe a mano.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Pegado tipo Excel:</a:t>
            </a:r>
            <a:r>
              <a:rPr sz="1900">
                <a:solidFill>
                  <a:srgbClr val="9FB3C7"/>
                </a:solidFill>
                <a:latin typeface="Segoe UI"/>
              </a:rPr>
              <a:t> tambien se puede copiar y pegar un bloque completo de celdas, con encabezados incluidos.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PASO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Revision geotecnica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Revision por volteo</a:t>
            </a:r>
            <a:r>
              <a:rPr sz="1900">
                <a:solidFill>
                  <a:srgbClr val="5B6B7C"/>
                </a:solidFill>
                <a:latin typeface="Segoe UI"/>
              </a:rPr>
              <a:t> (seccion 4.2): momento de vuelco, excentricidad, brazo de palanca y factor de seguridad.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Capacidad de carga por formula de Navier</a:t>
            </a:r>
            <a:r>
              <a:rPr sz="1900">
                <a:solidFill>
                  <a:srgbClr val="5B6B7C"/>
                </a:solidFill>
                <a:latin typeface="Segoe UI"/>
              </a:rPr>
              <a:t> (seccion 4.3): esfuerzo de contacto suelo-zapata en hasta 32 puntos del perimetro, sin necesidad de un analisis FEM completo.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Diagramas interactivos</a:t>
            </a:r>
            <a:r>
              <a:rPr sz="1900">
                <a:solidFill>
                  <a:srgbClr val="5B6B7C"/>
                </a:solidFill>
                <a:latin typeface="Segoe UI"/>
              </a:rPr>
              <a:t> de esfuerzo de contacto para las combinaciones normativas (90 grados, 60 grados, Normal).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egoe UI Semibold"/>
              </a:rPr>
              <a:t>PASO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Mallado FEM y exportacion a STAAD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Mallado FEM («Urdimbre Mesh»):</a:t>
            </a:r>
            <a:r>
              <a:rPr sz="1900">
                <a:solidFill>
                  <a:srgbClr val="9FB3C7"/>
                </a:solidFill>
                <a:latin typeface="Segoe UI"/>
              </a:rPr>
              <a:t> genera automaticamente la malla de placas para STAAD, con los dados y el hueco (si aplica) ya recortados.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Coeficiente de Balasto</a:t>
            </a:r>
            <a:r>
              <a:rPr sz="1900">
                <a:solidFill>
                  <a:srgbClr val="9FB3C7"/>
                </a:solidFill>
                <a:latin typeface="Segoe UI"/>
              </a:rPr>
              <a:t> y propiedades del concreto, con las formulas normativas a la vista.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Exportacion completa del modelo</a:t>
            </a:r>
            <a:r>
              <a:rPr sz="1900">
                <a:solidFill>
                  <a:srgbClr val="9FB3C7"/>
                </a:solidFill>
                <a:latin typeface="Segoe UI"/>
              </a:rPr>
              <a:t> a un archivo .STD listo para correr en STAAD.Pro — cargas, resortes de suelo y geometria, todo generado por la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PASO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Diseno estructural — ACI 318-19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" y="2039111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167127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5.1 — 5.2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96311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Se pega la tabla de resultados de placas de STAAD y se fijan los criterios y parametros de diseno (recubrimiento, tipo de dado).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7451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039111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167127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5.3 Flexion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496311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Momento de diseno combinado con Wood-Armer (Mx, My, Mxy), lechos inferior y superior.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87451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2039111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167127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5.4 Cortante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496311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Revision por cortante en una direccion, en la seccion critica a distancia «d» de cada dado.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7471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639311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767327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5.5 Punzonamiento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096511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Revision por punzonamiento alrededor de cada dado (ACI 318-19 §22.6.5).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47471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3639311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3767327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5.6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096511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Diseno de los dados de desplante por compresion/tension axial (TIA-222-H §9.4.1).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474719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4152" y="3639311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3767327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Acero existente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4096511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Comparacion opcional contra un armado real de campo (varilla + separacion medida).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egoe UI Semibold"/>
              </a:rPr>
              <a:t>PASO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Resumen de eficiencias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Una sola tabla</a:t>
            </a:r>
            <a:r>
              <a:rPr sz="1900">
                <a:solidFill>
                  <a:srgbClr val="9FB3C7"/>
                </a:solidFill>
                <a:latin typeface="Segoe UI"/>
              </a:rPr>
              <a:t> con TODAS las revisiones de la hoja: volteo, capacidad portante, flexion, cortante, punzonamiento y dados.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Eficiencia (demanda/capacidad) y estado</a:t>
            </a:r>
            <a:r>
              <a:rPr sz="1900">
                <a:solidFill>
                  <a:srgbClr val="9FB3C7"/>
                </a:solidFill>
                <a:latin typeface="Segoe UI"/>
              </a:rPr>
              <a:t> (cumple / no cumple) por revision — la fila con mayor eficiencia es la que gobierna el diseno.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De un vistazo:</a:t>
            </a:r>
            <a:r>
              <a:rPr sz="1900">
                <a:solidFill>
                  <a:srgbClr val="9FB3C7"/>
                </a:solidFill>
                <a:latin typeface="Segoe UI"/>
              </a:rPr>
              <a:t> el equipo ve si la cimentacion cumple, y en que revision especifica esta el margen mas ajustado.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VISUALIZACION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Interaccion 3D y Acero de refuerzo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" y="2267712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95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Diagrama de interaccion P-M-M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724912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Superficie 3D de interaccion del dado (carga axial + momentos biaxiales), con el punto de demanda ubicado dentro o fuera de la superficie de capacidad.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10312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2267712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395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Vista 3D de la cimentacion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724912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Zapata extruida del poligono real, dados, relleno y terreno natural — reemplaza los cortes 2D en planta/seccion del Excel original.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103120"/>
            <a:ext cx="3520440" cy="2377440"/>
          </a:xfrm>
          <a:prstGeom prst="roundRect">
            <a:avLst>
              <a:gd name="adj" fmla="val 8000"/>
            </a:avLst>
          </a:prstGeom>
          <a:solidFill>
            <a:srgbClr val="F6F8FA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4152" y="2267712"/>
            <a:ext cx="32004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395728"/>
            <a:ext cx="3191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85FA5"/>
                </a:solidFill>
                <a:latin typeface="Segoe UI Semibold"/>
              </a:rPr>
              <a:t>Acero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724912"/>
            <a:ext cx="319125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Segoe UI"/>
              </a:rPr>
              <a:t>Armado real de la losa (lechos inf/sup) y de los dados (longitudinal + estribos), con longitudes de desarrollo y ganchos segun ACI 318-19.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egoe UI Semibold"/>
              </a:rPr>
              <a:t>LA NOVEDAD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Motor FEM: analisis propio, dentro de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800"/>
              </a:spcAft>
            </a:pPr>
            <a:r>
              <a:rPr sz="1850" b="1">
                <a:solidFill>
                  <a:srgbClr val="00D4FF"/>
                </a:solidFill>
                <a:latin typeface="Segoe UI"/>
              </a:rPr>
              <a:t>▪  </a:t>
            </a:r>
            <a:r>
              <a:rPr sz="1850" b="1">
                <a:solidFill>
                  <a:srgbClr val="FFFFFF"/>
                </a:solidFill>
                <a:latin typeface="Segoe UI Semibold"/>
              </a:rPr>
              <a:t>Solver de placas propio</a:t>
            </a:r>
            <a:r>
              <a:rPr sz="1850">
                <a:solidFill>
                  <a:srgbClr val="9FB3C7"/>
                </a:solidFill>
                <a:latin typeface="Segoe UI"/>
              </a:rPr>
              <a:t> (Mindlin/Reissner + resortes de Winkler + no linealidad compression-only), corriendo sobre la geometria real de la zapata.</a:t>
            </a:r>
          </a:p>
          <a:p>
            <a:pPr marL="0" indent="0">
              <a:spcAft>
                <a:spcPts val="1800"/>
              </a:spcAft>
            </a:pPr>
            <a:r>
              <a:rPr sz="1850" b="1">
                <a:solidFill>
                  <a:srgbClr val="00D4FF"/>
                </a:solidFill>
                <a:latin typeface="Segoe UI"/>
              </a:rPr>
              <a:t>▪  </a:t>
            </a:r>
            <a:r>
              <a:rPr sz="1850" b="1">
                <a:solidFill>
                  <a:srgbClr val="FFFFFF"/>
                </a:solidFill>
                <a:latin typeface="Segoe UI Semibold"/>
              </a:rPr>
              <a:t>Sin salir de la app:</a:t>
            </a:r>
            <a:r>
              <a:rPr sz="1850">
                <a:solidFill>
                  <a:srgbClr val="9FB3C7"/>
                </a:solidFill>
                <a:latin typeface="Segoe UI"/>
              </a:rPr>
              <a:t> correr el analisis, ver la deformada 3D y el mapa de momentos/cortantes, e iterar — sin depender de un analisis externo.</a:t>
            </a:r>
          </a:p>
          <a:p>
            <a:pPr marL="0" indent="0">
              <a:spcAft>
                <a:spcPts val="1800"/>
              </a:spcAft>
            </a:pPr>
            <a:r>
              <a:rPr sz="1850" b="1">
                <a:solidFill>
                  <a:srgbClr val="00D4FF"/>
                </a:solidFill>
                <a:latin typeface="Segoe UI"/>
              </a:rPr>
              <a:t>▪  </a:t>
            </a:r>
            <a:r>
              <a:rPr sz="1850" b="1">
                <a:solidFill>
                  <a:srgbClr val="FFFFFF"/>
                </a:solidFill>
                <a:latin typeface="Segoe UI Semibold"/>
              </a:rPr>
              <a:t>Validado contra un caso real de STAAD.Pro:</a:t>
            </a:r>
            <a:r>
              <a:rPr sz="1850">
                <a:solidFill>
                  <a:srgbClr val="9FB3C7"/>
                </a:solidFill>
                <a:latin typeface="Segoe UI"/>
              </a:rPr>
              <a:t> flecha maxima con 0.06% de diferencia; reacciones por dado dentro de ~1%.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85FA5"/>
                </a:solidFill>
                <a:latin typeface="Segoe UI Semibold"/>
              </a:rPr>
              <a:t>ENTREGABLE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222C"/>
                </a:solidFill>
                <a:latin typeface="Segoe UI"/>
              </a:rPr>
              <a:t>Memoria de calculo en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Un boton exporta todo</a:t>
            </a:r>
            <a:r>
              <a:rPr sz="1900">
                <a:solidFill>
                  <a:srgbClr val="5B6B7C"/>
                </a:solidFill>
                <a:latin typeface="Segoe UI"/>
              </a:rPr>
              <a:t> el calculo — geometria, geotecnia, diseno estructural y resultados — a un documento Word (.docx) listo para firmar.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Formulas en formato de ecuacion nativa</a:t>
            </a:r>
            <a:r>
              <a:rPr sz="1900">
                <a:solidFill>
                  <a:srgbClr val="5B6B7C"/>
                </a:solidFill>
                <a:latin typeface="Segoe UI"/>
              </a:rPr>
              <a:t> de Word, no imagenes — se pueden revisar y editar como cualquier ecuacion de Word.</a:t>
            </a:r>
          </a:p>
          <a:p>
            <a:pPr marL="0" indent="0">
              <a:spcAft>
                <a:spcPts val="2200"/>
              </a:spcAft>
            </a:pPr>
            <a:r>
              <a:rPr sz="1900" b="1">
                <a:solidFill>
                  <a:srgbClr val="185FA5"/>
                </a:solidFill>
                <a:latin typeface="Segoe UI"/>
              </a:rPr>
              <a:t>▪  </a:t>
            </a:r>
            <a:r>
              <a:rPr sz="1900" b="1">
                <a:solidFill>
                  <a:srgbClr val="1A222C"/>
                </a:solidFill>
                <a:latin typeface="Segoe UI Semibold"/>
              </a:rPr>
              <a:t>El mismo criterio de siempre:</a:t>
            </a:r>
            <a:r>
              <a:rPr sz="1900">
                <a:solidFill>
                  <a:srgbClr val="5B6B7C"/>
                </a:solidFill>
                <a:latin typeface="Segoe UI"/>
              </a:rPr>
              <a:t> ademas de exportar a STAAD.Pro (.STD) para el analisis, la app entrega directamente el reporte firmable.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411480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4FF"/>
                </a:solidFill>
                <a:latin typeface="Segoe UI Semibold"/>
              </a:rPr>
              <a:t>PROXIMOS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Que sigue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Motor FEM:</a:t>
            </a:r>
            <a:r>
              <a:rPr sz="1900">
                <a:solidFill>
                  <a:srgbClr val="9FB3C7"/>
                </a:solidFill>
                <a:latin typeface="Segoe UI"/>
              </a:rPr>
              <a:t> falta aplicar el cortante horizontal (Fx/Fz) de cada pata y su momento local en el dado, y validar la interfaz de punta a punta.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Monopolo:</a:t>
            </a:r>
            <a:r>
              <a:rPr sz="1900">
                <a:solidFill>
                  <a:srgbClr val="9FB3C7"/>
                </a:solidFill>
                <a:latin typeface="Segoe UI"/>
              </a:rPr>
              <a:t> hoy la app cubre Autosoportada 3P/4P/M4 — Monopolo queda para una siguiente etapa.</a:t>
            </a:r>
          </a:p>
          <a:p>
            <a:pPr marL="0" indent="0">
              <a:spcAft>
                <a:spcPts val="2000"/>
              </a:spcAft>
            </a:pPr>
            <a:r>
              <a:rPr sz="19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900" b="1">
                <a:solidFill>
                  <a:srgbClr val="FFFFFF"/>
                </a:solidFill>
                <a:latin typeface="Segoe UI Semibold"/>
              </a:rPr>
              <a:t>Historial de revisiones documentado</a:t>
            </a:r>
            <a:r>
              <a:rPr sz="1900">
                <a:solidFill>
                  <a:srgbClr val="9FB3C7"/>
                </a:solidFill>
                <a:latin typeface="Segoe UI"/>
              </a:rPr>
              <a:t> dentro de la propia app (pestana «Revisiones») — cada version, su cambio y su autor.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  <a:latin typeface="Segoe UI Semibold"/>
              </a:rPr>
              <a:t>EN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Una sola app, todo el diseno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79476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400"/>
              </a:spcAft>
            </a:pPr>
            <a:r>
              <a:rPr sz="18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De la geometria a la memoria firmable,</a:t>
            </a:r>
            <a:r>
              <a:rPr sz="1800">
                <a:solidFill>
                  <a:srgbClr val="9FB3C7"/>
                </a:solidFill>
                <a:latin typeface="Segoe UI"/>
              </a:rPr>
              <a:t> sin salir de la app y sin depender de herramientas externas para iterar.</a:t>
            </a:r>
          </a:p>
          <a:p>
            <a:pPr marL="0" indent="0">
              <a:spcAft>
                <a:spcPts val="1400"/>
              </a:spcAft>
            </a:pPr>
            <a:r>
              <a:rPr sz="18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Normativa completa:</a:t>
            </a:r>
            <a:r>
              <a:rPr sz="1800">
                <a:solidFill>
                  <a:srgbClr val="9FB3C7"/>
                </a:solidFill>
                <a:latin typeface="Segoe UI"/>
              </a:rPr>
              <a:t> ACI 318-19 + ANSI/TIA-222-H, con el resumen de eficiencias gobernando la decision.</a:t>
            </a:r>
          </a:p>
          <a:p>
            <a:pPr marL="0" indent="0">
              <a:spcAft>
                <a:spcPts val="1400"/>
              </a:spcAft>
            </a:pPr>
            <a:r>
              <a:rPr sz="1800" b="1">
                <a:solidFill>
                  <a:srgbClr val="00D4FF"/>
                </a:solidFill>
                <a:latin typeface="Segoe UI"/>
              </a:rPr>
              <a:t>▪  </a:t>
            </a:r>
            <a:r>
              <a:rPr sz="1800" b="1">
                <a:solidFill>
                  <a:srgbClr val="FFFFFF"/>
                </a:solidFill>
                <a:latin typeface="Segoe UI Semibold"/>
              </a:rPr>
              <a:t>Y un motor FEM propio,</a:t>
            </a:r>
            <a:r>
              <a:rPr sz="1800">
                <a:solidFill>
                  <a:srgbClr val="9FB3C7"/>
                </a:solidFill>
                <a:latin typeface="Segoe UI"/>
              </a:rPr>
              <a:t> ya validado contra STAAD.Pro, como siguiente paso natural de la herramienta.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FB3C7"/>
                </a:solidFill>
                <a:latin typeface="Segoe UI"/>
              </a:rPr>
              <a:t>GeoCim  ·  Cimentaciones FEM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FB3C7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